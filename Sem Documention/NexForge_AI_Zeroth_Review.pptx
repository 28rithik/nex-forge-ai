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663" r:id="rId2"/>
    <p:sldId id="579" r:id="rId3"/>
    <p:sldId id="664" r:id="rId4"/>
    <p:sldId id="588" r:id="rId5"/>
    <p:sldId id="610" r:id="rId6"/>
    <p:sldId id="666" r:id="rId7"/>
    <p:sldId id="668" r:id="rId8"/>
    <p:sldId id="665" r:id="rId9"/>
    <p:sldId id="669" r:id="rId10"/>
    <p:sldId id="670" r:id="rId11"/>
    <p:sldId id="63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507"/>
    <a:srgbClr val="E50D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010" autoAdjust="0"/>
  </p:normalViewPr>
  <p:slideViewPr>
    <p:cSldViewPr>
      <p:cViewPr varScale="1">
        <p:scale>
          <a:sx n="82" d="100"/>
          <a:sy n="82" d="100"/>
        </p:scale>
        <p:origin x="13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0" y="2778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08"/>
    </p:cViewPr>
  </p:sorterViewPr>
  <p:notesViewPr>
    <p:cSldViewPr>
      <p:cViewPr varScale="1">
        <p:scale>
          <a:sx n="56" d="100"/>
          <a:sy n="56" d="100"/>
        </p:scale>
        <p:origin x="-2238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7D5AF-9A31-4A2B-B966-CEC7BF3947DB}" type="datetimeFigureOut">
              <a:rPr lang="en-US" smtClean="0"/>
              <a:pPr/>
              <a:t>2026-07-25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6855E-0F2A-43C2-A2DC-326EA75AFA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65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6855E-0F2A-43C2-A2DC-326EA75AFAB4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30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22524-5F40-4BFB-8193-1B1828B69AB4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98D1-EF9C-4405-896E-182C485B66EE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C314-D41A-45D1-AB2C-C84D5E9A78C3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5CB4-ED4F-4F73-9C5B-30022254930E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7414-EFE7-4BC2-82A3-589419046C9E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BBFC-62D0-4073-93C6-6FF8C10C686C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09D4A-66D2-4181-AC40-5F91EB13286B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/>
          <a:p>
            <a:fld id="{F9BB50A0-7FCA-482A-BFF7-04BDD956E830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B131C-4D45-433E-96B0-1B430A78AC17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54BF-DFA3-4BA5-A0C9-A30AE5660070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75363EC4-1F5F-46A4-9B82-F776023C16BA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329625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2609911"/>
            <a:ext cx="7848600" cy="3406655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sz="1600" b="1" dirty="0">
                <a:solidFill>
                  <a:srgbClr val="060507"/>
                </a:solidFill>
                <a:latin typeface="Times New Roman"/>
              </a:rPr>
              <a:t>Batch Number:  </a:t>
            </a:r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C 5</a:t>
            </a: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l"/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marL="68580" indent="0" algn="l">
              <a:buNone/>
            </a:pPr>
            <a:r>
              <a:rPr sz="1600" b="1" dirty="0">
                <a:solidFill>
                  <a:srgbClr val="060507"/>
                </a:solidFill>
                <a:latin typeface="Times New Roman"/>
              </a:rPr>
              <a:t>Project Team Members</a:t>
            </a:r>
          </a:p>
          <a:p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714023243116 - Rithik CA</a:t>
            </a:r>
          </a:p>
          <a:p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714023243134 - Shakthivel Parimalam KPC</a:t>
            </a:r>
          </a:p>
          <a:p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714023243149 - Srinivasan N</a:t>
            </a:r>
          </a:p>
          <a:p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714023243160 - Venkatraman R</a:t>
            </a:r>
          </a:p>
          <a:p>
            <a:pPr marL="68580" indent="0" algn="l">
              <a:buNone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marL="68580" indent="0">
              <a:buNone/>
            </a:pPr>
            <a:r>
              <a:rPr sz="1600" b="1" dirty="0">
                <a:solidFill>
                  <a:srgbClr val="060507"/>
                </a:solidFill>
                <a:latin typeface="Times New Roman"/>
              </a:rPr>
              <a:t>Date:  </a:t>
            </a:r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25 </a:t>
            </a:r>
            <a:r>
              <a:rPr sz="1600" b="1" dirty="0">
                <a:solidFill>
                  <a:srgbClr val="060507"/>
                </a:solidFill>
                <a:latin typeface="Times New Roman"/>
              </a:rPr>
              <a:t>July, 2026 </a:t>
            </a:r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               </a:t>
            </a:r>
            <a:r>
              <a:rPr sz="1600" b="1" dirty="0">
                <a:solidFill>
                  <a:srgbClr val="060507"/>
                </a:solidFill>
                <a:latin typeface="Times New Roman"/>
              </a:rPr>
              <a:t>                             Guide</a:t>
            </a:r>
            <a:r>
              <a:rPr lang="en-US" sz="1600" b="1" dirty="0">
                <a:solidFill>
                  <a:srgbClr val="060507"/>
                </a:solidFill>
                <a:latin typeface="Times New Roman"/>
              </a:rPr>
              <a:t> Name &amp; Designation					              MRS. Sini Prabakar</a:t>
            </a:r>
            <a:endParaRPr sz="16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3770-F7DE-499A-99DC-A2372DD2DE2C}" type="datetime3">
              <a:rPr lang="en-US" smtClean="0"/>
              <a:pPr/>
              <a:t>25 July 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90FA1-447C-C1F7-D68E-5F27CE0B1487}"/>
              </a:ext>
            </a:extLst>
          </p:cNvPr>
          <p:cNvSpPr/>
          <p:nvPr/>
        </p:nvSpPr>
        <p:spPr>
          <a:xfrm>
            <a:off x="533400" y="1163361"/>
            <a:ext cx="8305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NexForge AI</a:t>
            </a:r>
          </a:p>
          <a:p>
            <a:pPr algn="ctr"/>
            <a:r>
              <a:rPr lang="en-US" sz="2400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AI-Powered Repository Intelligence Platform</a:t>
            </a:r>
            <a:endParaRPr lang="en-US" sz="2000" dirty="0">
              <a:solidFill>
                <a:srgbClr val="06050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15832"/>
      </p:ext>
    </p:extLst>
  </p:cSld>
  <p:clrMapOvr>
    <a:masterClrMapping/>
  </p:clrMapOvr>
  <p:transition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495800"/>
          </a:xfrm>
        </p:spPr>
        <p:txBody>
          <a:bodyPr wrap="square">
            <a:noAutofit/>
          </a:bodyPr>
          <a:lstStyle/>
          <a:p>
            <a:pPr algn="just">
              <a:spcBef>
                <a:spcPts val="0"/>
              </a:spcBef>
            </a:pPr>
            <a:r>
              <a:rPr sz="1800" b="1" dirty="0">
                <a:solidFill>
                  <a:srgbClr val="060507"/>
                </a:solidFill>
                <a:latin typeface="Times New Roman"/>
              </a:rPr>
              <a:t>Modern GitHub repositories have grown into massive, deeply interconnected codebases spanning thousands of files, making it hard for developers to build an accurate mental model of the system.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Understanding the root cause of a bug requires tracing logic across multiple files, functions, and classes — a process that consumes a large share of a developer's debugging time.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Manual testing and validation of bug fixes is slow and error-prone, especially in large, fast-moving repositories with continuous commits.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5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7772400" cy="4374360"/>
          </a:xfrm>
        </p:spPr>
        <p:txBody>
          <a:bodyPr wrap="square">
            <a:noAutofit/>
          </a:bodyPr>
          <a:lstStyle/>
          <a:p>
            <a:pPr algn="just">
              <a:spcBef>
                <a:spcPts val="0"/>
              </a:spcBef>
            </a:pPr>
            <a:r>
              <a:rPr sz="1800" b="1" dirty="0">
                <a:solidFill>
                  <a:srgbClr val="060507"/>
                </a:solidFill>
                <a:latin typeface="Times New Roman"/>
              </a:rPr>
              <a:t>Traditional keyword or embedding-only search cannot capture the structural relationships — calls, inheritance, imports — between code entities, leading to inaccurate bug localization.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Existing AI coding assistants mostly operate at the snippet level and lack repository-wide context, so their suggestions can break other parts of the codebase.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There is no unified, autonomous pipeline that takes a raw GitHub issue all the way to a verified, tested pull request without human intervention.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8001000" cy="4983960"/>
          </a:xfrm>
        </p:spPr>
        <p:txBody>
          <a:bodyPr wrap="square">
            <a:normAutofit/>
          </a:bodyPr>
          <a:lstStyle/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Developers spend a disproportionate share of their time reading and re-reading code instead of building new features.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Graph-based repository representations (AST + call graphs) capture structural relationships that plain-text retrieval misses.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Modern LLM-orchestration frameworks such as </a:t>
            </a:r>
            <a:r>
              <a:rPr sz="1600" b="1" dirty="0" err="1">
                <a:solidFill>
                  <a:srgbClr val="060507"/>
                </a:solidFill>
                <a:latin typeface="Times New Roman"/>
              </a:rPr>
              <a:t>LangChain</a:t>
            </a:r>
            <a:r>
              <a:rPr sz="1600" b="1" dirty="0">
                <a:solidFill>
                  <a:srgbClr val="060507"/>
                </a:solidFill>
                <a:latin typeface="Times New Roman"/>
              </a:rPr>
              <a:t> and </a:t>
            </a:r>
            <a:r>
              <a:rPr sz="1600" b="1" dirty="0" err="1">
                <a:solidFill>
                  <a:srgbClr val="060507"/>
                </a:solidFill>
                <a:latin typeface="Times New Roman"/>
              </a:rPr>
              <a:t>LangGraph</a:t>
            </a:r>
            <a:r>
              <a:rPr sz="1600" b="1" dirty="0">
                <a:solidFill>
                  <a:srgbClr val="060507"/>
                </a:solidFill>
                <a:latin typeface="Times New Roman"/>
              </a:rPr>
              <a:t> make it possible to coordinate multiple specialized agents reliably.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Secure sandboxed execution (Docker / E2B) allows AI-generated code to be safely tested before it reaches a human reviewer.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Combining Graph RAG with multi-agent debugging can compress the traditional read-find-fix-test-deploy cycle into a fast, autonomous workflow.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9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914400"/>
          </a:xfrm>
        </p:spPr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5288760"/>
          </a:xfrm>
        </p:spPr>
        <p:txBody>
          <a:bodyPr wrap="square">
            <a:noAutofit/>
          </a:bodyPr>
          <a:lstStyle/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Build a Graph RAG pipeline (Tree-sitter → AST → Neo4j) that gives AI agents precise, structural understanding of any GitHub repository.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Design a multi-agent system — Debugger, Coder, and Tester agents — orchestrated with </a:t>
            </a:r>
            <a:r>
              <a:rPr sz="1800" b="1" dirty="0" err="1">
                <a:solidFill>
                  <a:srgbClr val="060507"/>
                </a:solidFill>
                <a:latin typeface="Times New Roman"/>
              </a:rPr>
              <a:t>LangGraph</a:t>
            </a:r>
            <a:r>
              <a:rPr sz="1800" b="1" dirty="0">
                <a:solidFill>
                  <a:srgbClr val="060507"/>
                </a:solidFill>
                <a:latin typeface="Times New Roman"/>
              </a:rPr>
              <a:t> to autonomously diagnose and resolve GitHub issues.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Execute and validate every AI-generated fix inside an isolated Docker / E2B sandbox before it is proposed.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Automate the end-to-end workflow from GitHub issue to a reviewed, ready-to-merge pull request.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9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914400"/>
          </a:xfrm>
        </p:spPr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 of 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5288760"/>
          </a:xfrm>
        </p:spPr>
        <p:txBody>
          <a:bodyPr wrap="square">
            <a:noAutofit/>
          </a:bodyPr>
          <a:lstStyle/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Individual open-source maintainers who need help triaging and fixing a high volume of incoming issues.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Software development teams in organizations looking to reduce time-to-fix for recurring bugs.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Engineering managers who want automated, auditable pull requests for low-to-medium complexity fixes.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Students and researchers studying autonomous software engineering and multi-agent LLM systems.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4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914400"/>
          </a:xfrm>
        </p:spPr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Limitations/Features/Functionalities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5288760"/>
          </a:xfrm>
        </p:spPr>
        <p:txBody>
          <a:bodyPr wrap="square">
            <a:noAutofit/>
          </a:bodyPr>
          <a:lstStyle/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Feature: Structural, graph-based repository understanding via Tree-sitter, AST parsing, and a Neo4j knowledge graph.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Feature: Specialized multi-agent debugging, coding, and testing pipeline orchestrated with </a:t>
            </a:r>
            <a:r>
              <a:rPr sz="1800" b="1" dirty="0" err="1">
                <a:solidFill>
                  <a:srgbClr val="060507"/>
                </a:solidFill>
                <a:latin typeface="Times New Roman"/>
              </a:rPr>
              <a:t>LangGraph</a:t>
            </a:r>
            <a:r>
              <a:rPr sz="1800" b="1" dirty="0">
                <a:solidFill>
                  <a:srgbClr val="060507"/>
                </a:solidFill>
                <a:latin typeface="Times New Roman"/>
              </a:rPr>
              <a:t>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Feature: Secure sandboxed validation of every generated fix before pull-request creation.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800" b="1" dirty="0">
                <a:solidFill>
                  <a:srgbClr val="060507"/>
                </a:solidFill>
                <a:latin typeface="Times New Roman"/>
              </a:rPr>
              <a:t>Limitation: Current scope targets well-scoped, single-repository issues; multi-repository dependency fixes and highly ambiguous issues are not yet supported.</a:t>
            </a:r>
          </a:p>
          <a:p>
            <a:pPr>
              <a:defRPr sz="1800"/>
            </a:pPr>
            <a:endParaRPr sz="18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8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914400"/>
          </a:xfrm>
        </p:spPr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5288760"/>
          </a:xfrm>
        </p:spPr>
        <p:txBody>
          <a:bodyPr wrap="square">
            <a:noAutofit/>
          </a:bodyPr>
          <a:lstStyle/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Title:  LLM4FL – A Multi-Agent Approach to Fault Localization via Graph-Based Retrieval and </a:t>
            </a:r>
            <a:r>
              <a:rPr sz="1600" b="1" dirty="0" err="1">
                <a:solidFill>
                  <a:srgbClr val="060507"/>
                </a:solidFill>
                <a:latin typeface="Times New Roman"/>
              </a:rPr>
              <a:t>Reflexion</a:t>
            </a: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Author Names:  Md Nakhla Rafi, Tse-Hsun (Peter) Chen, Dong Jae Kim, Shaowei Wang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Year of Publication:  2024  (arXiv:2409.13642)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600" b="1" dirty="0">
                <a:solidFill>
                  <a:srgbClr val="060507"/>
                </a:solidFill>
                <a:latin typeface="Times New Roman"/>
              </a:rPr>
              <a:t>Findings:  Proposes a three-agent framework (Context Extraction, Debugger, Reviewer) using graph-based retrieval-augmented code navigation and verbal-reinforcement self-review; achieves 18.55% and 4.82% higher Top-1 fault-localization accuracy than </a:t>
            </a:r>
            <a:r>
              <a:rPr sz="1600" b="1" dirty="0" err="1">
                <a:solidFill>
                  <a:srgbClr val="060507"/>
                </a:solidFill>
                <a:latin typeface="Times New Roman"/>
              </a:rPr>
              <a:t>AutoFL</a:t>
            </a:r>
            <a:r>
              <a:rPr sz="1600" b="1" dirty="0">
                <a:solidFill>
                  <a:srgbClr val="060507"/>
                </a:solidFill>
                <a:latin typeface="Times New Roman"/>
              </a:rPr>
              <a:t> and </a:t>
            </a:r>
            <a:r>
              <a:rPr sz="1600" b="1" dirty="0" err="1">
                <a:solidFill>
                  <a:srgbClr val="060507"/>
                </a:solidFill>
                <a:latin typeface="Times New Roman"/>
              </a:rPr>
              <a:t>AgentFL</a:t>
            </a:r>
            <a:r>
              <a:rPr sz="1600" b="1" dirty="0">
                <a:solidFill>
                  <a:srgbClr val="060507"/>
                </a:solidFill>
                <a:latin typeface="Times New Roman"/>
              </a:rPr>
              <a:t> on the Defects4J benchmark — directly motivating NexForge AI's Graph RAG + multi-agent debugging design.</a:t>
            </a:r>
          </a:p>
          <a:p>
            <a:pPr>
              <a:defRPr sz="1600"/>
            </a:pPr>
            <a:endParaRPr sz="1600" b="1" dirty="0">
              <a:solidFill>
                <a:srgbClr val="060507"/>
              </a:solidFill>
              <a:latin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8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914400"/>
          </a:xfrm>
        </p:spPr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Hardware/Software to be used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940701"/>
              </p:ext>
            </p:extLst>
          </p:nvPr>
        </p:nvGraphicFramePr>
        <p:xfrm>
          <a:off x="777240" y="1417320"/>
          <a:ext cx="7406640" cy="4355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Tools / Technologies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Repository &amp; Version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GitHub, GitHub Webhooks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Backend Framework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FastAPI (Python)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Code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Tree-sitter (AST Generation)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Knowledge Graph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Neo4j Graph Database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AI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LangChain, LangGraph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Language Model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 err="1">
                          <a:solidFill>
                            <a:srgbClr val="060507"/>
                          </a:solidFill>
                          <a:latin typeface="Times New Roman"/>
                        </a:rPr>
                        <a:t>Groq</a:t>
                      </a:r>
                      <a:r>
                        <a:rPr lang="en-US" sz="1300" b="0" dirty="0">
                          <a:solidFill>
                            <a:srgbClr val="060507"/>
                          </a:solidFill>
                          <a:latin typeface="Times New Roman"/>
                        </a:rPr>
                        <a:t>, Gemini, Llama</a:t>
                      </a:r>
                      <a:endParaRPr sz="1300" b="0" dirty="0">
                        <a:solidFill>
                          <a:srgbClr val="060507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Sandbox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Docker, E2B Sandbox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PyTest, Jest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60507"/>
                          </a:solidFill>
                          <a:latin typeface="Times New Roman"/>
                        </a:rPr>
                        <a:t>Cloud VM / GPU-enabled compute instance for development &amp; sandbox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92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914400"/>
          </a:xfrm>
        </p:spPr>
        <p:txBody>
          <a:bodyPr/>
          <a:lstStyle/>
          <a:p>
            <a:r>
              <a:rPr lang="en-US" sz="3200" b="1" dirty="0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 or Timeline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371600"/>
          <a:ext cx="6492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Week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Milestone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Research &amp; Literature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2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Tree-sitter Integration &amp; AST Generation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Neo4j Knowledge Graph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4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Graph RAG Retrieval Pipeline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LangChain + LangGraph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6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Multi-Agent Development (Debugger, Coder, Tester)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Docker / E2B Sandbox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8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End-to-End Testing &amp; Evaluation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0507"/>
                          </a:solidFill>
                          <a:latin typeface="Times New Roman"/>
                        </a:rPr>
                        <a:t>Week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60507"/>
                          </a:solidFill>
                          <a:latin typeface="Times New Roman"/>
                        </a:rPr>
                        <a:t>Deployment &amp;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02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605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rgbClr val="06050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001000" cy="4831560"/>
          </a:xfrm>
        </p:spPr>
        <p:txBody>
          <a:bodyPr wrap="square">
            <a:normAutofit/>
          </a:bodyPr>
          <a:lstStyle/>
          <a:p>
            <a:pPr algn="just"/>
            <a:r>
              <a:rPr sz="1200" b="0" dirty="0">
                <a:solidFill>
                  <a:srgbClr val="060507"/>
                </a:solidFill>
                <a:latin typeface="Times New Roman"/>
              </a:rPr>
              <a:t>[1] Md Nakhla Rafi, Tse-Hsun (Peter) Chen, Dong Jae Kim, and Shaowei Wang, "A Multi-Agent Approach to Fault Localization via Graph-Based Retrieval and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Reflexion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 (LLM4FL)," arXiv:2409.13642, 2024.  [Base Paper]</a:t>
            </a:r>
            <a:endParaRPr lang="en-US" sz="3600" dirty="0">
              <a:solidFill>
                <a:srgbClr val="06050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1200" b="0" dirty="0">
                <a:solidFill>
                  <a:srgbClr val="060507"/>
                </a:solidFill>
                <a:latin typeface="Times New Roman"/>
              </a:rPr>
              <a:t>[2] Vali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Tawosi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, Salwa Alamir,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Xiaomo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 Liu, and Manuela Veloso, "Meta-RAG on Large Codebases Using Code Summarization," arXiv:2508.02611, 2025.</a:t>
            </a:r>
          </a:p>
          <a:p>
            <a:pPr>
              <a:defRPr sz="600"/>
            </a:pPr>
            <a:endParaRPr sz="1200" b="0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200" b="0" dirty="0">
                <a:solidFill>
                  <a:srgbClr val="060507"/>
                </a:solidFill>
                <a:latin typeface="Times New Roman"/>
              </a:rPr>
              <a:t>[3] Jialin Wang and Zhihua Duan, "Empirical Research on Utilizing LLM-based Agents for Automated Bug Fixing via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LangGraph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," arXiv:2502.18465, 2025.</a:t>
            </a:r>
          </a:p>
          <a:p>
            <a:pPr>
              <a:defRPr sz="600"/>
            </a:pPr>
            <a:endParaRPr sz="1200" b="0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200" b="0" dirty="0">
                <a:solidFill>
                  <a:srgbClr val="060507"/>
                </a:solidFill>
                <a:latin typeface="Times New Roman"/>
              </a:rPr>
              <a:t>[4]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Yuntong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 Zhang, Haifeng Ruan, Zhiyu Fan, and Abhik Roychoudhury, "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AutoCodeRover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: Autonomous Program Improvement," Proc. 33rd ACM SIGSOFT ISSTA, 2024.</a:t>
            </a:r>
          </a:p>
          <a:p>
            <a:pPr marL="68580" indent="0">
              <a:buNone/>
              <a:defRPr sz="600"/>
            </a:pPr>
            <a:endParaRPr sz="1200" b="0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200" b="0" dirty="0">
                <a:solidFill>
                  <a:srgbClr val="060507"/>
                </a:solidFill>
                <a:latin typeface="Times New Roman"/>
              </a:rPr>
              <a:t>[6]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Sirui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 Hong et al., "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MetaGPT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: Meta Programming for a Multi-Agent Collaborative Framework," 12th Int'l Conference on Learning Representations (ICLR), 2024.</a:t>
            </a:r>
          </a:p>
          <a:p>
            <a:pPr>
              <a:defRPr sz="600"/>
            </a:pPr>
            <a:endParaRPr sz="1200" b="0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200" b="0" dirty="0">
                <a:solidFill>
                  <a:srgbClr val="060507"/>
                </a:solidFill>
                <a:latin typeface="Times New Roman"/>
              </a:rPr>
              <a:t>[7]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Xiangyan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 Liu, Bo Lan, Zhiyuan Hu, Yang Liu, Zhicheng Zhang, Fei Wang, Michael Shieh, and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Wenmeng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 Zhou, "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CodexGraph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: Bridging Large Language Models and Code Repositories via Code Graph Databases," arXiv:2408.03910, 2024.</a:t>
            </a:r>
            <a:br>
              <a:rPr lang="en-US" sz="1200" b="0" dirty="0">
                <a:solidFill>
                  <a:srgbClr val="060507"/>
                </a:solidFill>
                <a:latin typeface="Times New Roman"/>
              </a:rPr>
            </a:br>
            <a:endParaRPr sz="1200" b="0" dirty="0">
              <a:solidFill>
                <a:srgbClr val="060507"/>
              </a:solidFill>
              <a:latin typeface="Times New Roman"/>
            </a:endParaRPr>
          </a:p>
          <a:p>
            <a:pPr algn="just"/>
            <a:r>
              <a:rPr sz="1200" b="0" dirty="0">
                <a:solidFill>
                  <a:srgbClr val="060507"/>
                </a:solidFill>
                <a:latin typeface="Times New Roman"/>
              </a:rPr>
              <a:t>[</a:t>
            </a:r>
            <a:r>
              <a:rPr lang="en-US" sz="1200" b="0" dirty="0">
                <a:solidFill>
                  <a:srgbClr val="060507"/>
                </a:solidFill>
                <a:latin typeface="Times New Roman"/>
              </a:rPr>
              <a:t>8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] Noah Shinn, Federico Cassano, Ashwin Gopinath, Karthik Narasimhan, and 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Shunyu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 Yao, "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Reflexion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: Language Agents with Verbal Reinforcement Learning," Advances in Neural Information Processing Systems (</a:t>
            </a:r>
            <a:r>
              <a:rPr sz="1200" b="0" dirty="0" err="1">
                <a:solidFill>
                  <a:srgbClr val="060507"/>
                </a:solidFill>
                <a:latin typeface="Times New Roman"/>
              </a:rPr>
              <a:t>NeurIPS</a:t>
            </a:r>
            <a:r>
              <a:rPr sz="1200" b="0" dirty="0">
                <a:solidFill>
                  <a:srgbClr val="060507"/>
                </a:solidFill>
                <a:latin typeface="Times New Roman"/>
              </a:rPr>
              <a:t>), 2024.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7682-3695-4304-A4D2-5787BA3F84D8}" type="datetime3">
              <a:rPr lang="en-US" smtClean="0"/>
              <a:pPr/>
              <a:t>25 July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62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Custom 1">
      <a:dk1>
        <a:srgbClr val="A6D0DE"/>
      </a:dk1>
      <a:lt1>
        <a:sysClr val="window" lastClr="FFFFFF"/>
      </a:lt1>
      <a:dk2>
        <a:srgbClr val="295E70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Custom 1">
      <a:majorFont>
        <a:latin typeface="Comic Sans MS"/>
        <a:ea typeface=""/>
        <a:cs typeface=""/>
      </a:majorFont>
      <a:minorFont>
        <a:latin typeface="Corbel"/>
        <a:ea typeface=""/>
        <a:cs typeface="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10942</TotalTime>
  <Words>1057</Words>
  <Application>Microsoft Office PowerPoint</Application>
  <PresentationFormat>On-screen Show (4:3)</PresentationFormat>
  <Paragraphs>143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Comic Sans MS</vt:lpstr>
      <vt:lpstr>Corbel</vt:lpstr>
      <vt:lpstr>Times New Roman</vt:lpstr>
      <vt:lpstr>Wingdings</vt:lpstr>
      <vt:lpstr>Wingdings 2</vt:lpstr>
      <vt:lpstr>Wingdings 3</vt:lpstr>
      <vt:lpstr>Metro</vt:lpstr>
      <vt:lpstr>PowerPoint Presentation</vt:lpstr>
      <vt:lpstr>Introduction-Problem Definition</vt:lpstr>
      <vt:lpstr>Introduction-Problem Definition</vt:lpstr>
      <vt:lpstr>Motivation</vt:lpstr>
      <vt:lpstr>Objectives of the Project</vt:lpstr>
      <vt:lpstr>Users  of  Project</vt:lpstr>
      <vt:lpstr>Limitations/Features/Functionalities of Project</vt:lpstr>
      <vt:lpstr>Base Paper</vt:lpstr>
      <vt:lpstr>Tools and Hardware/Software to be used</vt:lpstr>
      <vt:lpstr>Work Plan or Timeline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Enhancement of heat transfer</dc:title>
  <dc:creator>Welcome</dc:creator>
  <cp:lastModifiedBy>Rithik CA</cp:lastModifiedBy>
  <cp:revision>1105</cp:revision>
  <cp:lastPrinted>2026-07-25T08:48:20Z</cp:lastPrinted>
  <dcterms:created xsi:type="dcterms:W3CDTF">2006-08-16T00:00:00Z</dcterms:created>
  <dcterms:modified xsi:type="dcterms:W3CDTF">2026-07-25T08:50:45Z</dcterms:modified>
</cp:coreProperties>
</file>