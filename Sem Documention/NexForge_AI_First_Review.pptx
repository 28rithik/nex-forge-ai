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1E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1E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645920"/>
            <a:ext cx="1054303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 i="0">
                <a:solidFill>
                  <a:srgbClr val="1E2A4A"/>
                </a:solidFill>
              </a:rPr>
              <a:t>NexForge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788920"/>
            <a:ext cx="1054303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444444"/>
                </a:solidFill>
              </a:rPr>
              <a:t>Autonomous AI-Powered Repository Intelligence Platform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429000"/>
            <a:ext cx="105430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888888"/>
                </a:solidFill>
              </a:rPr>
              <a:t>First Review — System Design &amp; Literature Review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4160520"/>
            <a:ext cx="2743200" cy="19050"/>
          </a:xfrm>
          <a:prstGeom prst="rect">
            <a:avLst/>
          </a:prstGeom>
          <a:noFill/>
          <a:ln>
            <a:solidFill>
              <a:srgbClr val="1E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4434840"/>
            <a:ext cx="1054303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44444"/>
                </a:solidFill>
              </a:rPr>
              <a:t>Team Members:  Rithik CA (714023243116)  |  Shakthivel Parimalam KPC (714023243134)  |  Srinivasan N (714023243149)  |  Venkatraman R (714023243160)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4828032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44444"/>
                </a:solidFill>
              </a:rPr>
              <a:t>Batch: C5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5148072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44444"/>
                </a:solidFill>
              </a:rPr>
              <a:t>Date: 25 July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167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E2A4A"/>
                </a:solidFill>
              </a:rPr>
              <a:t>Introduction — Problem Definition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325880"/>
            <a:ext cx="11091672" cy="13716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59" y="1490472"/>
            <a:ext cx="1072591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1E2A4A"/>
                </a:solidFill>
              </a:rPr>
              <a:t>Scale &amp; Complexity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59" y="1920240"/>
            <a:ext cx="1072591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44444"/>
                </a:solidFill>
              </a:rPr>
              <a:t>Modern GitHub repositories span thousands of files,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59" y="2267712"/>
            <a:ext cx="1072591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44444"/>
                </a:solidFill>
              </a:rPr>
              <a:t>making it hard for developers to build a mental model.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907792"/>
            <a:ext cx="11091672" cy="13716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59" y="3072384"/>
            <a:ext cx="1072591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1E2A4A"/>
                </a:solidFill>
              </a:rPr>
              <a:t>Root Cause Tracing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59" y="3502152"/>
            <a:ext cx="1072591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44444"/>
                </a:solidFill>
              </a:rPr>
              <a:t>Tracing a bug across files, functions, and classes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59" y="3849624"/>
            <a:ext cx="1072591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44444"/>
                </a:solidFill>
              </a:rPr>
              <a:t>consumes a large share of every developer's debugging time.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4489704"/>
            <a:ext cx="11091672" cy="13716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59" y="4654296"/>
            <a:ext cx="1072591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1E2A4A"/>
                </a:solidFill>
              </a:rPr>
              <a:t>Slow Manual Validation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59" y="5084064"/>
            <a:ext cx="1072591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44444"/>
                </a:solidFill>
              </a:rPr>
              <a:t>Manual testing of bug fixes is slow and error-prone,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59" y="5431536"/>
            <a:ext cx="1072591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44444"/>
                </a:solidFill>
              </a:rPr>
              <a:t>especially in large, fast-moving repositories.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8888"/>
                </a:solidFill>
              </a:rPr>
              <a:t>NexForge AI — First Review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83112" y="644652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888888"/>
                </a:solidFill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167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E2A4A"/>
                </a:solidFill>
              </a:rPr>
              <a:t>Introduction — Problem Definition (cont.)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325880"/>
            <a:ext cx="11091672" cy="13716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59" y="1490472"/>
            <a:ext cx="1072591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1E2A4A"/>
                </a:solidFill>
              </a:rPr>
              <a:t>Structural Blindness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59" y="1920240"/>
            <a:ext cx="1072591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44444"/>
                </a:solidFill>
              </a:rPr>
              <a:t>Traditional keyword / embedding search cannot capture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59" y="2267712"/>
            <a:ext cx="1072591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44444"/>
                </a:solidFill>
              </a:rPr>
              <a:t>calls, inheritance, imports — leading to inaccurate bug localization.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907792"/>
            <a:ext cx="11091672" cy="13716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59" y="3072384"/>
            <a:ext cx="1072591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1E2A4A"/>
                </a:solidFill>
              </a:rPr>
              <a:t>Snippet-Level AI Assistants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59" y="3502152"/>
            <a:ext cx="1072591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44444"/>
                </a:solidFill>
              </a:rPr>
              <a:t>Existing AI coding tools lack repository-wide context,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59" y="3849624"/>
            <a:ext cx="1072591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44444"/>
                </a:solidFill>
              </a:rPr>
              <a:t>so their suggestions can break other parts of the codebase.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4489704"/>
            <a:ext cx="11091672" cy="13716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59" y="4654296"/>
            <a:ext cx="1072591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1E2A4A"/>
                </a:solidFill>
              </a:rPr>
              <a:t>No End-to-End Pipeline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59" y="5084064"/>
            <a:ext cx="1072591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44444"/>
                </a:solidFill>
              </a:rPr>
              <a:t>There is no unified, autonomous pipeline from a raw GitHub issue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59" y="5431536"/>
            <a:ext cx="1072591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44444"/>
                </a:solidFill>
              </a:rPr>
              <a:t>to a verified, tested pull request without human intervention.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8888"/>
                </a:solidFill>
              </a:rPr>
              <a:t>NexForge AI — First Review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83112" y="644652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888888"/>
                </a:solidFill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167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E2A4A"/>
                </a:solidFill>
              </a:rPr>
              <a:t>Motivation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325880"/>
            <a:ext cx="320040" cy="320040"/>
          </a:xfrm>
          <a:prstGeom prst="rect">
            <a:avLst/>
          </a:prstGeom>
          <a:solidFill>
            <a:srgbClr val="1E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1335024"/>
            <a:ext cx="283464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1280160"/>
            <a:ext cx="104241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444444"/>
                </a:solidFill>
              </a:rPr>
              <a:t>Developers spend a disproportionate share of their time reading code instead of building features.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2148840"/>
            <a:ext cx="320040" cy="320040"/>
          </a:xfrm>
          <a:prstGeom prst="rect">
            <a:avLst/>
          </a:prstGeom>
          <a:solidFill>
            <a:srgbClr val="1E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2157984"/>
            <a:ext cx="283464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2103120"/>
            <a:ext cx="104241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444444"/>
                </a:solidFill>
              </a:rPr>
              <a:t>Graph-based repository representations (AST + call graphs) capture structural relationships that plain-text retrieval misses.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971800"/>
            <a:ext cx="320040" cy="320040"/>
          </a:xfrm>
          <a:prstGeom prst="rect">
            <a:avLst/>
          </a:prstGeom>
          <a:solidFill>
            <a:srgbClr val="1E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66928" y="2980944"/>
            <a:ext cx="283464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2926080"/>
            <a:ext cx="104241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444444"/>
                </a:solidFill>
              </a:rPr>
              <a:t>Modern LLM-orchestration frameworks (LangChain, LangGraph) enable reliable multi-agent coordination.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3794760"/>
            <a:ext cx="320040" cy="320040"/>
          </a:xfrm>
          <a:prstGeom prst="rect">
            <a:avLst/>
          </a:prstGeom>
          <a:solidFill>
            <a:srgbClr val="1E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66928" y="3803904"/>
            <a:ext cx="283464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" y="3749040"/>
            <a:ext cx="104241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444444"/>
                </a:solidFill>
              </a:rPr>
              <a:t>Secure sandboxed execution (Docker / E2B) allows AI-generated code to be safely tested before reaching a human reviewer.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4617720"/>
            <a:ext cx="320040" cy="320040"/>
          </a:xfrm>
          <a:prstGeom prst="rect">
            <a:avLst/>
          </a:prstGeom>
          <a:solidFill>
            <a:srgbClr val="1E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66928" y="4626864"/>
            <a:ext cx="283464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1560" y="4572000"/>
            <a:ext cx="104241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444444"/>
                </a:solidFill>
              </a:rPr>
              <a:t>Combining Graph RAG with multi-agent debugging can compress the traditional read–find–fix–test–deploy cycle into a fast, autonomous workflow.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8888"/>
                </a:solidFill>
              </a:rPr>
              <a:t>NexForge AI — First Review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183112" y="644652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888888"/>
                </a:solidFill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167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E2A4A"/>
                </a:solidFill>
              </a:rPr>
              <a:t>Objectives of the Project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325880"/>
            <a:ext cx="320040" cy="320040"/>
          </a:xfrm>
          <a:prstGeom prst="rect">
            <a:avLst/>
          </a:prstGeom>
          <a:solidFill>
            <a:srgbClr val="1E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1335024"/>
            <a:ext cx="283464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1280160"/>
            <a:ext cx="104241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444444"/>
                </a:solidFill>
              </a:rPr>
              <a:t>Build a Graph RAG pipeline (Tree-sitter → AST → Neo4j) that gives AI agents precise, structural understanding of any GitHub repository.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2331720"/>
            <a:ext cx="320040" cy="320040"/>
          </a:xfrm>
          <a:prstGeom prst="rect">
            <a:avLst/>
          </a:prstGeom>
          <a:solidFill>
            <a:srgbClr val="1E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2340863"/>
            <a:ext cx="283464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2286000"/>
            <a:ext cx="104241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444444"/>
                </a:solidFill>
              </a:rPr>
              <a:t>Design a multi-agent system — Debugger, Coder, and Tester agents — orchestrated with LangGraph to autonomously diagnose and resolve GitHub issues.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3337560"/>
            <a:ext cx="320040" cy="320040"/>
          </a:xfrm>
          <a:prstGeom prst="rect">
            <a:avLst/>
          </a:prstGeom>
          <a:solidFill>
            <a:srgbClr val="1E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66928" y="3346703"/>
            <a:ext cx="283464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3291840"/>
            <a:ext cx="104241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444444"/>
                </a:solidFill>
              </a:rPr>
              <a:t>Execute and validate every AI-generated fix inside an isolated Docker / E2B sandbox before it is proposed.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4343400"/>
            <a:ext cx="320040" cy="320040"/>
          </a:xfrm>
          <a:prstGeom prst="rect">
            <a:avLst/>
          </a:prstGeom>
          <a:solidFill>
            <a:srgbClr val="1E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66928" y="4352544"/>
            <a:ext cx="283464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" y="4297680"/>
            <a:ext cx="104241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444444"/>
                </a:solidFill>
              </a:rPr>
              <a:t>Automate the end-to-end workflow from a GitHub issue to a reviewed, ready-to-merge pull request.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8888"/>
                </a:solidFill>
              </a:rPr>
              <a:t>NexForge AI — First Review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83112" y="644652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888888"/>
                </a:solidFill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167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E2A4A"/>
                </a:solidFill>
              </a:rPr>
              <a:t>Literature Review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234440"/>
          <a:ext cx="11000232" cy="51114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/>
                <a:gridCol w="1828800"/>
                <a:gridCol w="1645920"/>
                <a:gridCol w="502920"/>
                <a:gridCol w="4462272"/>
              </a:tblGrid>
              <a:tr h="502920"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Journal Title</a:t>
                      </a:r>
                    </a:p>
                  </a:txBody>
                  <a:tcPr>
                    <a:solidFill>
                      <a:srgbClr val="1E2A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Journal Name</a:t>
                      </a:r>
                    </a:p>
                  </a:txBody>
                  <a:tcPr>
                    <a:solidFill>
                      <a:srgbClr val="1E2A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Authors</a:t>
                      </a:r>
                    </a:p>
                  </a:txBody>
                  <a:tcPr>
                    <a:solidFill>
                      <a:srgbClr val="1E2A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Year</a:t>
                      </a:r>
                    </a:p>
                  </a:txBody>
                  <a:tcPr>
                    <a:solidFill>
                      <a:srgbClr val="1E2A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Key Findings / Technologies Used</a:t>
                      </a:r>
                    </a:p>
                  </a:txBody>
                  <a:tcPr>
                    <a:solidFill>
                      <a:srgbClr val="1E2A4A"/>
                    </a:solidFill>
                  </a:tcPr>
                </a:tc>
              </a:tr>
              <a:tr h="1152144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444444"/>
                          </a:solidFill>
                        </a:rPr>
                        <a:t>LLM4FL — Multi-Agent Fault Localization via Graph-Based Retrieval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444444"/>
                          </a:solidFill>
                        </a:rPr>
                        <a:t>arXiv (2409.13642)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444444"/>
                          </a:solidFill>
                        </a:rPr>
                        <a:t>Rafi, Chen, Kim, Wang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444444"/>
                          </a:solidFill>
                        </a:rPr>
                        <a:t>2024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444444"/>
                          </a:solidFill>
                        </a:rPr>
                        <a:t>Graph RAG + 3-agent framework (Context, Debugger, Reviewer); 18.55% higher Top-1 accuracy over AutoFL on Defects4J. Directly motivates NexForge AI design.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1152144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444444"/>
                          </a:solidFill>
                        </a:rPr>
                        <a:t>Meta-RAG on Large Codebases Using Code Summarization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444444"/>
                          </a:solidFill>
                        </a:rPr>
                        <a:t>arXiv (2508.02611)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444444"/>
                          </a:solidFill>
                        </a:rPr>
                        <a:t>Tawosi, Alamir, Liu, Veloso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444444"/>
                          </a:solidFill>
                        </a:rPr>
                        <a:t>2025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444444"/>
                          </a:solidFill>
                        </a:rPr>
                        <a:t>Meta-level RAG for large codebases; code summarization improves retrieval precision. Technologies: RAG, LLM, code summarization.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152144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444444"/>
                          </a:solidFill>
                        </a:rPr>
                        <a:t>Automated Bug Fixing via LLM-based Agents using LangGraph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444444"/>
                          </a:solidFill>
                        </a:rPr>
                        <a:t>arXiv (2502.18465)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444444"/>
                          </a:solidFill>
                        </a:rPr>
                        <a:t>Wang &amp; Duan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444444"/>
                          </a:solidFill>
                        </a:rPr>
                        <a:t>2025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444444"/>
                          </a:solidFill>
                        </a:rPr>
                        <a:t>Multi-agent LangGraph pipeline for automated bug fixing; empirical study shows autonomous patch generation. Technologies: LangGraph, GPT-4, Python.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1152144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444444"/>
                          </a:solidFill>
                        </a:rPr>
                        <a:t>AutoCodeRover: Autonomous Program Improvement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444444"/>
                          </a:solidFill>
                        </a:rPr>
                        <a:t>ACM SIGSOFT ISSTA 2024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444444"/>
                          </a:solidFill>
                        </a:rPr>
                        <a:t>Zhang, Ruan, Fan, Roychoudhury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444444"/>
                          </a:solidFill>
                        </a:rPr>
                        <a:t>2024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444444"/>
                          </a:solidFill>
                        </a:rPr>
                        <a:t>Spectrum-based fault localization + LLM patch generation; solves SWE-bench tasks. Technologies: SBF, AST, LLMs.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8888"/>
                </a:solidFill>
              </a:rPr>
              <a:t>NexForge AI — First Review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83112" y="644652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888888"/>
                </a:solidFill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167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E2A4A"/>
                </a:solidFill>
              </a:rPr>
              <a:t>Research Gaps &amp; Proposed 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E2A4A"/>
                </a:solidFill>
              </a:rPr>
              <a:t>Research Gaps Identified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993392"/>
            <a:ext cx="320040" cy="320040"/>
          </a:xfrm>
          <a:prstGeom prst="rect">
            <a:avLst/>
          </a:prstGeom>
          <a:solidFill>
            <a:srgbClr val="1E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2002536"/>
            <a:ext cx="283464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1947672"/>
            <a:ext cx="47548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444444"/>
                </a:solidFill>
              </a:rPr>
              <a:t>Existing AI assistants operate at snippet level, lacking full repository-wide context.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907792"/>
            <a:ext cx="320040" cy="320040"/>
          </a:xfrm>
          <a:prstGeom prst="rect">
            <a:avLst/>
          </a:prstGeom>
          <a:solidFill>
            <a:srgbClr val="1E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2916936"/>
            <a:ext cx="283464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2862072"/>
            <a:ext cx="47548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444444"/>
                </a:solidFill>
              </a:rPr>
              <a:t>Keyword/embedding search misses structural code relationships (calls, inheritance, imports).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3822191"/>
            <a:ext cx="320040" cy="320040"/>
          </a:xfrm>
          <a:prstGeom prst="rect">
            <a:avLst/>
          </a:prstGeom>
          <a:solidFill>
            <a:srgbClr val="1E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6928" y="3831335"/>
            <a:ext cx="283464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3776472"/>
            <a:ext cx="47548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444444"/>
                </a:solidFill>
              </a:rPr>
              <a:t>No unified autonomous pipeline from GitHub issue to a verified, merged pull request.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44768" y="1344168"/>
            <a:ext cx="45720" cy="438912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55080" y="1371600"/>
            <a:ext cx="528523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E2A4A"/>
                </a:solidFill>
              </a:rPr>
              <a:t>Our Solution &amp; Technologies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73368" y="2103120"/>
            <a:ext cx="109728" cy="109728"/>
          </a:xfrm>
          <a:prstGeom prst="rect">
            <a:avLst/>
          </a:prstGeom>
          <a:solidFill>
            <a:srgbClr val="1E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29400" y="1965960"/>
            <a:ext cx="5303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444444"/>
                </a:solidFill>
              </a:rPr>
              <a:t>Tree-sitter + AST + Neo4j Graph RAG for structural code understanding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73368" y="2770632"/>
            <a:ext cx="109728" cy="109728"/>
          </a:xfrm>
          <a:prstGeom prst="rect">
            <a:avLst/>
          </a:prstGeom>
          <a:solidFill>
            <a:srgbClr val="1E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629400" y="2633472"/>
            <a:ext cx="5303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444444"/>
                </a:solidFill>
              </a:rPr>
              <a:t>LangGraph-orchestrated Debugger, Coder &amp; Tester multi-agent pipeline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73368" y="3438144"/>
            <a:ext cx="109728" cy="109728"/>
          </a:xfrm>
          <a:prstGeom prst="rect">
            <a:avLst/>
          </a:prstGeom>
          <a:solidFill>
            <a:srgbClr val="1E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29400" y="3300984"/>
            <a:ext cx="5303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444444"/>
                </a:solidFill>
              </a:rPr>
              <a:t>Docker / E2B sandboxed execution for safe fix validation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373368" y="4105656"/>
            <a:ext cx="109728" cy="109728"/>
          </a:xfrm>
          <a:prstGeom prst="rect">
            <a:avLst/>
          </a:prstGeom>
          <a:solidFill>
            <a:srgbClr val="1E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29400" y="3968496"/>
            <a:ext cx="5303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444444"/>
                </a:solidFill>
              </a:rPr>
              <a:t>Automated GitHub issue → pull request end-to-end workflow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373368" y="4773168"/>
            <a:ext cx="109728" cy="109728"/>
          </a:xfrm>
          <a:prstGeom prst="rect">
            <a:avLst/>
          </a:prstGeom>
          <a:solidFill>
            <a:srgbClr val="1E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629400" y="4636008"/>
            <a:ext cx="5303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444444"/>
                </a:solidFill>
              </a:rPr>
              <a:t>LLM backbone: GPT-4o / Claude Sonnet via LangChain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8888"/>
                </a:solidFill>
              </a:rPr>
              <a:t>NexForge AI — First Review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183112" y="644652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888888"/>
                </a:solidFill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167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E2A4A"/>
                </a:solidFill>
              </a:rPr>
              <a:t>Users of the Project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325880"/>
            <a:ext cx="5440680" cy="224028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59" y="1490472"/>
            <a:ext cx="5074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1E2A4A"/>
                </a:solidFill>
              </a:rPr>
              <a:t>Open-Source Maintainers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59" y="1920240"/>
            <a:ext cx="5074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44444"/>
                </a:solidFill>
              </a:rPr>
              <a:t>Need help triaging and fixing a high volume of incoming issues.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59" y="2267712"/>
            <a:ext cx="5074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44444"/>
                </a:solidFill>
              </a:rPr>
              <a:t>Benefit from automated PR generation with no manual effort.</a:t>
            </a:r>
          </a:p>
        </p:txBody>
      </p:sp>
      <p:sp>
        <p:nvSpPr>
          <p:cNvPr id="7" name="Rectangle 6"/>
          <p:cNvSpPr/>
          <p:nvPr/>
        </p:nvSpPr>
        <p:spPr>
          <a:xfrm>
            <a:off x="6199632" y="1325880"/>
            <a:ext cx="5440680" cy="224028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73952" y="1490472"/>
            <a:ext cx="5074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1E2A4A"/>
                </a:solidFill>
              </a:rPr>
              <a:t>Software Development Teams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73952" y="1920240"/>
            <a:ext cx="5074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44444"/>
                </a:solidFill>
              </a:rPr>
              <a:t>Looking to reduce time-to-fix for recurring bugs.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73952" y="2267712"/>
            <a:ext cx="5074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44444"/>
                </a:solidFill>
              </a:rPr>
              <a:t>Gain auditable, AI-generated pull requests for review.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3840480"/>
            <a:ext cx="5440680" cy="224028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59" y="4005072"/>
            <a:ext cx="5074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1E2A4A"/>
                </a:solidFill>
              </a:rPr>
              <a:t>Engineering Managers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59" y="4434840"/>
            <a:ext cx="5074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44444"/>
                </a:solidFill>
              </a:rPr>
              <a:t>Want automated, auditable PRs for low-to-medium complexity fixes.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59" y="4782312"/>
            <a:ext cx="5074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44444"/>
                </a:solidFill>
              </a:rPr>
              <a:t>Gain visibility into autonomous fix pipelines.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99632" y="3840480"/>
            <a:ext cx="5440680" cy="224028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73952" y="4005072"/>
            <a:ext cx="5074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1E2A4A"/>
                </a:solidFill>
              </a:rPr>
              <a:t>Students &amp; Researchers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73952" y="4434840"/>
            <a:ext cx="5074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44444"/>
                </a:solidFill>
              </a:rPr>
              <a:t>Studying autonomous software engineering and multi-agent LLM systems.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73952" y="4782312"/>
            <a:ext cx="5074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44444"/>
                </a:solidFill>
              </a:rPr>
              <a:t>Can use NexForge AI as a research benchmark platform.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8888"/>
                </a:solidFill>
              </a:rPr>
              <a:t>NexForge AI — First Review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83112" y="644652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888888"/>
                </a:solidFill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167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E2A4A"/>
                </a:solidFill>
              </a:rPr>
              <a:t>Features &amp; Limitations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61872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E2A4A"/>
                </a:solidFill>
              </a:rPr>
              <a:t>Key Features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920240"/>
            <a:ext cx="109728" cy="109728"/>
          </a:xfrm>
          <a:prstGeom prst="rect">
            <a:avLst/>
          </a:prstGeom>
          <a:solidFill>
            <a:srgbClr val="1E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59" y="1783080"/>
            <a:ext cx="5303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444444"/>
                </a:solidFill>
              </a:rPr>
              <a:t>Structural, graph-based repository understanding via Tree-sitter, AST &amp; Neo4j.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2670048"/>
            <a:ext cx="109728" cy="109728"/>
          </a:xfrm>
          <a:prstGeom prst="rect">
            <a:avLst/>
          </a:prstGeom>
          <a:solidFill>
            <a:srgbClr val="1E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59" y="2532888"/>
            <a:ext cx="5303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444444"/>
                </a:solidFill>
              </a:rPr>
              <a:t>Specialised multi-agent Debugger, Coder &amp; Tester pipeline (LangGraph).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3419856"/>
            <a:ext cx="109728" cy="109728"/>
          </a:xfrm>
          <a:prstGeom prst="rect">
            <a:avLst/>
          </a:prstGeom>
          <a:solidFill>
            <a:srgbClr val="1E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59" y="3282696"/>
            <a:ext cx="5303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444444"/>
                </a:solidFill>
              </a:rPr>
              <a:t>Secure sandboxed fix validation before any PR is created.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4169664"/>
            <a:ext cx="109728" cy="109728"/>
          </a:xfrm>
          <a:prstGeom prst="rect">
            <a:avLst/>
          </a:prstGeom>
          <a:solidFill>
            <a:srgbClr val="1E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59" y="4032504"/>
            <a:ext cx="5303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444444"/>
                </a:solidFill>
              </a:rPr>
              <a:t>End-to-end automation: GitHub issue → tested PR.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44768" y="1234440"/>
            <a:ext cx="45720" cy="493776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55080" y="1261872"/>
            <a:ext cx="528523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E2A4A"/>
                </a:solidFill>
              </a:rPr>
              <a:t>Current Limitations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55080" y="1783080"/>
            <a:ext cx="320040" cy="320040"/>
          </a:xfrm>
          <a:prstGeom prst="rect">
            <a:avLst/>
          </a:prstGeom>
          <a:solidFill>
            <a:srgbClr val="1E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73368" y="1792224"/>
            <a:ext cx="283464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0" y="1737360"/>
            <a:ext cx="48920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444444"/>
                </a:solidFill>
              </a:rPr>
              <a:t>Targets well-scoped, single-repository issues; multi-repo dependency fixes not yet supported.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55080" y="2697480"/>
            <a:ext cx="320040" cy="320040"/>
          </a:xfrm>
          <a:prstGeom prst="rect">
            <a:avLst/>
          </a:prstGeom>
          <a:solidFill>
            <a:srgbClr val="1E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73368" y="2706624"/>
            <a:ext cx="283464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0" y="2651760"/>
            <a:ext cx="48920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444444"/>
                </a:solidFill>
              </a:rPr>
              <a:t>Highly ambiguous or under-specified issues may require human guidance.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355080" y="3611880"/>
            <a:ext cx="320040" cy="320040"/>
          </a:xfrm>
          <a:prstGeom prst="rect">
            <a:avLst/>
          </a:prstGeom>
          <a:solidFill>
            <a:srgbClr val="1E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73368" y="3621024"/>
            <a:ext cx="283464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0" y="3566160"/>
            <a:ext cx="48920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444444"/>
                </a:solidFill>
              </a:rPr>
              <a:t>Repository parsing time scales with codebase size; very large monorepos may need optimisation.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355080" y="4526280"/>
            <a:ext cx="320040" cy="320040"/>
          </a:xfrm>
          <a:prstGeom prst="rect">
            <a:avLst/>
          </a:prstGeom>
          <a:solidFill>
            <a:srgbClr val="1E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73368" y="4535424"/>
            <a:ext cx="283464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0" y="4480560"/>
            <a:ext cx="48920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444444"/>
                </a:solidFill>
              </a:rPr>
              <a:t>Generated patches must still pass human code review before merging.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8888"/>
                </a:solidFill>
              </a:rPr>
              <a:t>NexForge AI — First Review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183112" y="644652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888888"/>
                </a:solidFill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167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E2A4A"/>
                </a:solidFill>
              </a:rPr>
              <a:t>Base Paper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61872"/>
            <a:ext cx="11091672" cy="438912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4173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E2A4A"/>
                </a:solidFill>
              </a:rPr>
              <a:t>Title: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651760" y="1417320"/>
            <a:ext cx="880567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44444"/>
                </a:solidFill>
              </a:rPr>
              <a:t>LLM4FL — A Multi-Agent Approach to Fault Localization via Graph-Based Retrieval and Reflexion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3317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E2A4A"/>
                </a:solidFill>
              </a:rPr>
              <a:t>Authors: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51760" y="2331720"/>
            <a:ext cx="880567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44444"/>
                </a:solidFill>
              </a:rPr>
              <a:t>Md Nakhla Rafi, Tse-Hsun (Peter) Chen, Dong Jae Kim, Shaowei Wang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2461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E2A4A"/>
                </a:solidFill>
              </a:rPr>
              <a:t>Published: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51760" y="3246120"/>
            <a:ext cx="880567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44444"/>
                </a:solidFill>
              </a:rPr>
              <a:t>arXiv:2409.13642 — 2024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41605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E2A4A"/>
                </a:solidFill>
              </a:rPr>
              <a:t>Findings: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51760" y="4160520"/>
            <a:ext cx="880567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44444"/>
                </a:solidFill>
              </a:rPr>
              <a:t>Proposes a three-agent framework (Context Extraction, Debugger, Reviewer) using graph-based retrieval-augmented code navigation and verbal-reinforcement self-review. Achieves 18.55% and 4.82% higher Top-1 fault-localization accuracy than AutoFL and AgentFL on the Defects4J benchmark — directly motivating NexForge AI's Graph RAG + multi-agent design.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8888"/>
                </a:solidFill>
              </a:rPr>
              <a:t>NexForge AI — First Review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83112" y="644652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888888"/>
                </a:solidFill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167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E2A4A"/>
                </a:solidFill>
              </a:rPr>
              <a:t>Tools &amp; Technologies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325880"/>
            <a:ext cx="3291840" cy="219456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1325880"/>
            <a:ext cx="3291840" cy="411480"/>
          </a:xfrm>
          <a:prstGeom prst="rect">
            <a:avLst/>
          </a:prstGeom>
          <a:solidFill>
            <a:srgbClr val="1E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371600"/>
            <a:ext cx="3017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Language &amp; Parsing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993391"/>
            <a:ext cx="109728" cy="109728"/>
          </a:xfrm>
          <a:prstGeom prst="rect">
            <a:avLst/>
          </a:prstGeom>
          <a:solidFill>
            <a:srgbClr val="1E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56231"/>
            <a:ext cx="269747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444444"/>
                </a:solidFill>
              </a:rPr>
              <a:t>Python 3.11+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2496312"/>
            <a:ext cx="109728" cy="109728"/>
          </a:xfrm>
          <a:prstGeom prst="rect">
            <a:avLst/>
          </a:prstGeom>
          <a:solidFill>
            <a:srgbClr val="1E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359152"/>
            <a:ext cx="269747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444444"/>
                </a:solidFill>
              </a:rPr>
              <a:t>Tree-sitter (AST parsing)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2999232"/>
            <a:ext cx="109728" cy="109728"/>
          </a:xfrm>
          <a:prstGeom prst="rect">
            <a:avLst/>
          </a:prstGeom>
          <a:solidFill>
            <a:srgbClr val="1E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2862072"/>
            <a:ext cx="269747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444444"/>
                </a:solidFill>
              </a:rPr>
              <a:t>GitPython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87952" y="1325880"/>
            <a:ext cx="3291840" cy="219456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187952" y="1325880"/>
            <a:ext cx="3291840" cy="411480"/>
          </a:xfrm>
          <a:prstGeom prst="rect">
            <a:avLst/>
          </a:prstGeom>
          <a:solidFill>
            <a:srgbClr val="1E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25112" y="1371600"/>
            <a:ext cx="3017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Graph Database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97679" y="1993391"/>
            <a:ext cx="109728" cy="109728"/>
          </a:xfrm>
          <a:prstGeom prst="rect">
            <a:avLst/>
          </a:prstGeom>
          <a:solidFill>
            <a:srgbClr val="1E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53712" y="1856231"/>
            <a:ext cx="269747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444444"/>
                </a:solidFill>
              </a:rPr>
              <a:t>Neo4j (knowledge graph)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297679" y="2496312"/>
            <a:ext cx="109728" cy="109728"/>
          </a:xfrm>
          <a:prstGeom prst="rect">
            <a:avLst/>
          </a:prstGeom>
          <a:solidFill>
            <a:srgbClr val="1E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53712" y="2359152"/>
            <a:ext cx="269747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444444"/>
                </a:solidFill>
              </a:rPr>
              <a:t>LangChain-Neo4j connector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827264" y="1325880"/>
            <a:ext cx="3291840" cy="219456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827264" y="1325880"/>
            <a:ext cx="3291840" cy="411480"/>
          </a:xfrm>
          <a:prstGeom prst="rect">
            <a:avLst/>
          </a:prstGeom>
          <a:solidFill>
            <a:srgbClr val="1E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964424" y="1371600"/>
            <a:ext cx="3017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AI / LLM Layer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936992" y="1993391"/>
            <a:ext cx="109728" cy="109728"/>
          </a:xfrm>
          <a:prstGeom prst="rect">
            <a:avLst/>
          </a:prstGeom>
          <a:solidFill>
            <a:srgbClr val="1E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193024" y="1856231"/>
            <a:ext cx="269747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444444"/>
                </a:solidFill>
              </a:rPr>
              <a:t>GPT-4o / Claude Sonnet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936992" y="2496312"/>
            <a:ext cx="109728" cy="109728"/>
          </a:xfrm>
          <a:prstGeom prst="rect">
            <a:avLst/>
          </a:prstGeom>
          <a:solidFill>
            <a:srgbClr val="1E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193024" y="2359152"/>
            <a:ext cx="269747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444444"/>
                </a:solidFill>
              </a:rPr>
              <a:t>LangChain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936992" y="2999232"/>
            <a:ext cx="109728" cy="109728"/>
          </a:xfrm>
          <a:prstGeom prst="rect">
            <a:avLst/>
          </a:prstGeom>
          <a:solidFill>
            <a:srgbClr val="1E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193024" y="2862072"/>
            <a:ext cx="269747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444444"/>
                </a:solidFill>
              </a:rPr>
              <a:t>LangGraph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48640" y="3794760"/>
            <a:ext cx="3291840" cy="219456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48640" y="3794760"/>
            <a:ext cx="3291840" cy="411480"/>
          </a:xfrm>
          <a:prstGeom prst="rect">
            <a:avLst/>
          </a:prstGeom>
          <a:solidFill>
            <a:srgbClr val="1E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85800" y="3840480"/>
            <a:ext cx="3017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Sandboxed Execution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58368" y="4462272"/>
            <a:ext cx="109728" cy="109728"/>
          </a:xfrm>
          <a:prstGeom prst="rect">
            <a:avLst/>
          </a:prstGeom>
          <a:solidFill>
            <a:srgbClr val="1E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14400" y="4325112"/>
            <a:ext cx="269747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444444"/>
                </a:solidFill>
              </a:rPr>
              <a:t>Docker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58368" y="4965192"/>
            <a:ext cx="109728" cy="109728"/>
          </a:xfrm>
          <a:prstGeom prst="rect">
            <a:avLst/>
          </a:prstGeom>
          <a:solidFill>
            <a:srgbClr val="1E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14400" y="4828032"/>
            <a:ext cx="269747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444444"/>
                </a:solidFill>
              </a:rPr>
              <a:t>E2B (cloud sandbox)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187952" y="3794760"/>
            <a:ext cx="3291840" cy="219456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4187952" y="3794760"/>
            <a:ext cx="3291840" cy="411480"/>
          </a:xfrm>
          <a:prstGeom prst="rect">
            <a:avLst/>
          </a:prstGeom>
          <a:solidFill>
            <a:srgbClr val="1E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325112" y="3840480"/>
            <a:ext cx="3017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CI / Deployment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297679" y="4462272"/>
            <a:ext cx="109728" cy="109728"/>
          </a:xfrm>
          <a:prstGeom prst="rect">
            <a:avLst/>
          </a:prstGeom>
          <a:solidFill>
            <a:srgbClr val="1E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553712" y="4325112"/>
            <a:ext cx="269747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444444"/>
                </a:solidFill>
              </a:rPr>
              <a:t>GitHub Actions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297679" y="4965192"/>
            <a:ext cx="109728" cy="109728"/>
          </a:xfrm>
          <a:prstGeom prst="rect">
            <a:avLst/>
          </a:prstGeom>
          <a:solidFill>
            <a:srgbClr val="1E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553712" y="4828032"/>
            <a:ext cx="269747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444444"/>
                </a:solidFill>
              </a:rPr>
              <a:t>FastAPI backend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297679" y="5468112"/>
            <a:ext cx="109728" cy="109728"/>
          </a:xfrm>
          <a:prstGeom prst="rect">
            <a:avLst/>
          </a:prstGeom>
          <a:solidFill>
            <a:srgbClr val="1E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553712" y="5330952"/>
            <a:ext cx="269747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444444"/>
                </a:solidFill>
              </a:rPr>
              <a:t>React frontend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827264" y="3794760"/>
            <a:ext cx="3291840" cy="219456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7827264" y="3794760"/>
            <a:ext cx="3291840" cy="411480"/>
          </a:xfrm>
          <a:prstGeom prst="rect">
            <a:avLst/>
          </a:prstGeom>
          <a:solidFill>
            <a:srgbClr val="1E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964424" y="3840480"/>
            <a:ext cx="3017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Development Tools</a:t>
            </a:r>
          </a:p>
        </p:txBody>
      </p:sp>
      <p:sp>
        <p:nvSpPr>
          <p:cNvPr id="47" name="Rectangle 46"/>
          <p:cNvSpPr/>
          <p:nvPr/>
        </p:nvSpPr>
        <p:spPr>
          <a:xfrm>
            <a:off x="7936992" y="4462272"/>
            <a:ext cx="109728" cy="109728"/>
          </a:xfrm>
          <a:prstGeom prst="rect">
            <a:avLst/>
          </a:prstGeom>
          <a:solidFill>
            <a:srgbClr val="1E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193024" y="4325112"/>
            <a:ext cx="269747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444444"/>
                </a:solidFill>
              </a:rPr>
              <a:t>VS Code</a:t>
            </a:r>
          </a:p>
        </p:txBody>
      </p:sp>
      <p:sp>
        <p:nvSpPr>
          <p:cNvPr id="49" name="Rectangle 48"/>
          <p:cNvSpPr/>
          <p:nvPr/>
        </p:nvSpPr>
        <p:spPr>
          <a:xfrm>
            <a:off x="7936992" y="4965192"/>
            <a:ext cx="109728" cy="109728"/>
          </a:xfrm>
          <a:prstGeom prst="rect">
            <a:avLst/>
          </a:prstGeom>
          <a:solidFill>
            <a:srgbClr val="1E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193024" y="4828032"/>
            <a:ext cx="269747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444444"/>
                </a:solidFill>
              </a:rPr>
              <a:t>Jupyter Notebooks</a:t>
            </a:r>
          </a:p>
        </p:txBody>
      </p:sp>
      <p:sp>
        <p:nvSpPr>
          <p:cNvPr id="51" name="Rectangle 50"/>
          <p:cNvSpPr/>
          <p:nvPr/>
        </p:nvSpPr>
        <p:spPr>
          <a:xfrm>
            <a:off x="7936992" y="5468112"/>
            <a:ext cx="109728" cy="109728"/>
          </a:xfrm>
          <a:prstGeom prst="rect">
            <a:avLst/>
          </a:prstGeom>
          <a:solidFill>
            <a:srgbClr val="1E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193024" y="5330952"/>
            <a:ext cx="269747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444444"/>
                </a:solidFill>
              </a:rPr>
              <a:t>Git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8888"/>
                </a:solidFill>
              </a:rPr>
              <a:t>NexForge AI — First Review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1183112" y="644652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888888"/>
                </a:solidFill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167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E2A4A"/>
                </a:solidFill>
              </a:rPr>
              <a:t>Work Plan &amp; Timeline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61872"/>
            <a:ext cx="1417320" cy="621792"/>
          </a:xfrm>
          <a:prstGeom prst="rect">
            <a:avLst/>
          </a:prstGeom>
          <a:solidFill>
            <a:srgbClr val="1E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371600"/>
            <a:ext cx="13258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Jul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103120" y="1280160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2A4A"/>
                </a:solidFill>
              </a:rPr>
              <a:t>Phase 1 — Repository Ingestion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103120" y="1609343"/>
            <a:ext cx="8961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44444"/>
                </a:solidFill>
              </a:rPr>
              <a:t>Tree-sitter AST parsing, Neo4j graph build, GitHub API integration.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057400"/>
            <a:ext cx="1417320" cy="621792"/>
          </a:xfrm>
          <a:prstGeom prst="rect">
            <a:avLst/>
          </a:prstGeom>
          <a:solidFill>
            <a:srgbClr val="1E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2167128"/>
            <a:ext cx="13258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Aug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03120" y="2075688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2A4A"/>
                </a:solidFill>
              </a:rPr>
              <a:t>Phase 2 — Graph RAG Engine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03120" y="2404872"/>
            <a:ext cx="8961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44444"/>
                </a:solidFill>
              </a:rPr>
              <a:t>Embedding store, structural search, context retrieval pipeline.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2852928"/>
            <a:ext cx="1417320" cy="621792"/>
          </a:xfrm>
          <a:prstGeom prst="rect">
            <a:avLst/>
          </a:prstGeom>
          <a:solidFill>
            <a:srgbClr val="1E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2962656"/>
            <a:ext cx="13258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Sep 2026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03120" y="2871216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2A4A"/>
                </a:solidFill>
              </a:rPr>
              <a:t>Phase 3 — Multi-Agent Pipeline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103120" y="3200400"/>
            <a:ext cx="8961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44444"/>
                </a:solidFill>
              </a:rPr>
              <a:t>Debugger, Coder, Tester agents; LangGraph orchestration.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3648456"/>
            <a:ext cx="1417320" cy="621792"/>
          </a:xfrm>
          <a:prstGeom prst="rect">
            <a:avLst/>
          </a:prstGeom>
          <a:solidFill>
            <a:srgbClr val="1E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4360" y="3758184"/>
            <a:ext cx="13258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Oct 2026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103120" y="3666744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2A4A"/>
                </a:solidFill>
              </a:rPr>
              <a:t>Phase 4 — Sandbox Execution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103120" y="3995928"/>
            <a:ext cx="8961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44444"/>
                </a:solidFill>
              </a:rPr>
              <a:t>Docker / E2B integration, automated test-runner, result parsing.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4443984"/>
            <a:ext cx="1417320" cy="621792"/>
          </a:xfrm>
          <a:prstGeom prst="rect">
            <a:avLst/>
          </a:prstGeom>
          <a:solidFill>
            <a:srgbClr val="1E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94360" y="4553712"/>
            <a:ext cx="13258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Nov 2026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103120" y="4462272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2A4A"/>
                </a:solidFill>
              </a:rPr>
              <a:t>Phase 5 — PR Automation &amp; UI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103120" y="4791456"/>
            <a:ext cx="8961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44444"/>
                </a:solidFill>
              </a:rPr>
              <a:t>Automated PR creation, FastAPI + React dashboard, demo.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5239512"/>
            <a:ext cx="1417320" cy="621792"/>
          </a:xfrm>
          <a:prstGeom prst="rect">
            <a:avLst/>
          </a:prstGeom>
          <a:solidFill>
            <a:srgbClr val="1E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94360" y="5349240"/>
            <a:ext cx="13258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Dec 2026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103120" y="5257800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2A4A"/>
                </a:solidFill>
              </a:rPr>
              <a:t>Phase 6 — Testing &amp; Deployment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103120" y="5586984"/>
            <a:ext cx="8961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44444"/>
                </a:solidFill>
              </a:rPr>
              <a:t>SWE-bench evaluation, bug fixes, final report &amp; presentation.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8888"/>
                </a:solidFill>
              </a:rPr>
              <a:t>NexForge AI — First Review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183112" y="644652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888888"/>
                </a:solidFill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167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E2A4A"/>
                </a:solidFill>
              </a:rPr>
              <a:t>References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261872"/>
            <a:ext cx="1072591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44444"/>
                </a:solidFill>
              </a:rPr>
              <a:t>[1] Md Nakhla Rafi et al., "LLM4FL," arXiv:2409.13642, 2024. [Base Paper]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920239"/>
            <a:ext cx="1072591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44444"/>
                </a:solidFill>
              </a:rPr>
              <a:t>[2] Vali Tawosi et al., "Meta-RAG on Large Codebases Using Code Summarization," arXiv:2508.02611, 2025.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578607"/>
            <a:ext cx="1072591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44444"/>
                </a:solidFill>
              </a:rPr>
              <a:t>[3] Jialin Wang &amp; Zhihua Duan, "Automated Bug Fixing via LangGraph," arXiv:2502.18465, 2025.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236975"/>
            <a:ext cx="1072591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44444"/>
                </a:solidFill>
              </a:rPr>
              <a:t>[4] Yuntong Zhang et al., "AutoCodeRover: Autonomous Program Improvement," ACM SIGSOFT ISSTA, 2024.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895343"/>
            <a:ext cx="1072591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44444"/>
                </a:solidFill>
              </a:rPr>
              <a:t>[5] Sirui Hong et al., "MetaGPT: Meta Programming for a Multi-Agent Collaborative Framework," ICLR, 2024.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4553711"/>
            <a:ext cx="1072591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44444"/>
                </a:solidFill>
              </a:rPr>
              <a:t>[6] Xiangyan Liu et al., "CodexGraph: Bridging LLMs and Code Repositories via Code Graph Databases," arXiv:2408.03910, 2024.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5212079"/>
            <a:ext cx="1072591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44444"/>
                </a:solidFill>
              </a:rPr>
              <a:t>[7] Noah Shinn et al., "Reflexion: Language Agents with Verbal Reinforcement Learning," NeurIPS, 2024.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8888"/>
                </a:solidFill>
              </a:rPr>
              <a:t>NexForge AI — First Review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83112" y="644652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888888"/>
                </a:solidFill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1E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1E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862072" y="2377440"/>
            <a:ext cx="6464808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 i="0">
                <a:solidFill>
                  <a:srgbClr val="1E2A4A"/>
                </a:solidFill>
              </a:rPr>
              <a:t>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862072" y="3337560"/>
            <a:ext cx="646480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444444"/>
                </a:solidFill>
              </a:rPr>
              <a:t>Questions &amp; Answers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862072" y="4023360"/>
            <a:ext cx="646480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1">
                <a:solidFill>
                  <a:srgbClr val="888888"/>
                </a:solidFill>
              </a:rPr>
              <a:t>NexForge AI — First Review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